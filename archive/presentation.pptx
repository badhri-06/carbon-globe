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5303520" cy="411480"/>
          </a:xfrm>
          <a:prstGeom prst="roundRect">
            <a:avLst/>
          </a:prstGeom>
          <a:solidFill>
            <a:srgbClr val="1E3E62"/>
          </a:solidFill>
          <a:ln w="1270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ECC71"/>
                </a:solidFill>
                <a:latin typeface="Arial"/>
              </a:defRPr>
            </a:pPr>
            <a:r>
              <a:t>IEEE BigData Cup 2026 AI Emulation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rial"/>
              </a:defRPr>
            </a:pPr>
            <a:r>
              <a:t>Physics-Guided Allometric Spline Anchoring &amp;</a:t>
            </a:r>
            <a:br/>
            <a:r>
              <a:t>Multi-Decade Climate Emulation</a:t>
            </a:r>
          </a:p>
          <a:p>
            <a:pPr>
              <a:defRPr sz="2600" b="1">
                <a:solidFill>
                  <a:srgbClr val="2ECC71"/>
                </a:solidFill>
                <a:latin typeface="Arial"/>
              </a:defRPr>
            </a:pPr>
            <a:r>
              <a:t>for Global Forest Carbon Forecasting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10332720" cy="100584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1C40F"/>
                </a:solidFill>
                <a:latin typeface="Arial"/>
              </a:defRPr>
            </a:pPr>
            <a:r>
              <a:t>★ PRODUCTION PERFORMANCE HIGHLIGHTS</a:t>
            </a:r>
          </a:p>
          <a:p>
            <a:pPr>
              <a:defRPr sz="1400" b="1">
                <a:solidFill>
                  <a:srgbClr val="FFFFFF"/>
                </a:solidFill>
                <a:latin typeface="Arial"/>
              </a:defRPr>
            </a:pPr>
            <a:r>
              <a:t>5-Fold CV Score: 0.001393  |  Beating Official Target (&lt;0.010) by 86.1%  |  Height R² = 0.9982  |  AGB R² = 0.9991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66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2E8F0"/>
                </a:solidFill>
                <a:latin typeface="Arial"/>
              </a:defRPr>
            </a:pPr>
            <a:r>
              <a:t>Team Members: Aswitha K, Badhri Narayanan M, Bavin Aadithiya S, Bose M</a:t>
            </a:r>
          </a:p>
          <a:p>
            <a:pPr>
              <a:defRPr sz="1200">
                <a:solidFill>
                  <a:srgbClr val="94A3B8"/>
                </a:solidFill>
                <a:latin typeface="Arial"/>
              </a:defRPr>
            </a:pPr>
            <a:r>
              <a:t>Department of Computer Science and Engineering, Sri Sivasubramaniya Nadar College of Engineering, Chennai,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CHALLENGE BACKGROUND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Global Forest Carbon Dynamics &amp; The Emulation Challenge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The Ecological Stakes</a:t>
            </a:r>
          </a:p>
          <a:p>
            <a:pPr>
              <a:defRPr sz="1200" b="1">
                <a:solidFill>
                  <a:srgbClr val="0B192C"/>
                </a:solidFill>
                <a:latin typeface="Arial"/>
              </a:defRPr>
            </a:pPr>
            <a:r>
              <a:t>• Active Carbon Sink: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Forests sequester ~30% of anthropogenic CO2 emissions annually, serving as Earth's critical climate buffer.</a:t>
            </a:r>
          </a:p>
          <a:p>
            <a:pPr>
              <a:defRPr sz="1200" b="1">
                <a:solidFill>
                  <a:srgbClr val="0B192C"/>
                </a:solidFill>
                <a:latin typeface="Arial"/>
              </a:defRPr>
            </a:pPr>
            <a:r>
              <a:t>• Target Variables: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Forecasting 40-year Canopy Height (h) and Aboveground Biomass (AGB) is vital for nature-based carbon accounting.</a:t>
            </a:r>
          </a:p>
          <a:p>
            <a:pPr>
              <a:defRPr sz="1200" b="1">
                <a:solidFill>
                  <a:srgbClr val="0B192C"/>
                </a:solidFill>
                <a:latin typeface="Arial"/>
              </a:defRPr>
            </a:pPr>
            <a:r>
              <a:t>• Divergent Pathways: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Models must project under SSP126 (sustainable mitigation) and SSP585 (extreme fossil-fueled warming).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The Computational Bottleneck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Process-Based ED v3: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Ecosystem Demography v3 numerically solves non-linear biophysics, sub-grid tiles, and cohort competition.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Prohibitive Solver Costs: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Simulating 6,171 global grid cells over 40 years requires millions of high-performance CPU core-hours.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The AI Challenge: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Demands lightning-fast ML emulators predicting Year-40 states across 15 seed ages (A in [1, 500] yr).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1463040"/>
            <a:ext cx="3328416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Competition Requirements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Evaluation Metric: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Normalized MSE with fixed scaling constants: mu_h = 10.90645 and mu_a = 3.39567.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Acceptance Threshold: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Official benchmark target: Loss &lt; 0.010. Models exceeding this threshold are rejected.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• Test Coverage: </a:t>
            </a:r>
          </a:p>
          <a:p>
            <a:pPr>
              <a:spcAft>
                <a:spcPts val="1000"/>
              </a:spcAft>
              <a:defRPr sz="1100">
                <a:solidFill>
                  <a:srgbClr val="64748B"/>
                </a:solidFill>
                <a:latin typeface="Arial"/>
              </a:defRPr>
            </a:pPr>
            <a:r>
              <a:t>  Complete 185,130 projections (6,171 sites x 15 ages x 2 scenarios) with 0 NaNs and strict physical bounds.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ROOT PROBLEM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Why Standard Machine Learning Fails: The Dual-Phenomena Dilemma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Two Intertwined Biological Realities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1. Ontogenetic Stand Maturation (Dominant Deterministic)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A forest initialized at age A advances to A+40. Biomass follows monotonic saturating allometry governed by carrying capacity and self-thinning. This is a massive, multi-decade developmental trend.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2. Climate Environmental Forcing (Subtle Perturbation)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Over 40 years, warming, precipitation shifts, CO2 fertilization, and vapor deficits modify the trajectory. These climatic anomalies are subtle compared to 40 years of stand maturation.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t>The Fatal ML Failure Mode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Standard regressors conflate ontogeny with weather noise. Directly mapping weather -&gt; Y40 causes models to ignore stand biology, leading to severe extrapolation failures.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DC2626"/>
                </a:solidFill>
                <a:latin typeface="Arial"/>
              </a:defRPr>
            </a:pPr>
            <a:r>
              <a:rPr dirty="0"/>
              <a:t>Direct Regressor Failure Modes (Empirical Proof)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Direct </a:t>
            </a:r>
            <a:r>
              <a:rPr dirty="0" err="1"/>
              <a:t>LightGBM</a:t>
            </a:r>
            <a:r>
              <a:rPr dirty="0"/>
              <a:t>: Loss = 0.103181 - 10x worse than target threshold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Direct </a:t>
            </a:r>
            <a:r>
              <a:rPr dirty="0" err="1"/>
              <a:t>XGBoost</a:t>
            </a:r>
            <a:r>
              <a:rPr dirty="0"/>
              <a:t>: Loss = 0.108285 - Extrapolates out-of-bounds on extremes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Direct </a:t>
            </a:r>
            <a:r>
              <a:rPr dirty="0" err="1"/>
              <a:t>CatBoost</a:t>
            </a:r>
            <a:r>
              <a:rPr dirty="0"/>
              <a:t>: Loss = 0.110002 - Tree splits diluted across weather channels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Deep </a:t>
            </a:r>
            <a:r>
              <a:rPr dirty="0" err="1"/>
              <a:t>ResTabular</a:t>
            </a:r>
            <a:r>
              <a:rPr dirty="0"/>
              <a:t> NN: Loss = 0.202325 - Severe catastrophic failure &amp; overfitting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• Direct SLSQP Blend: Loss = 0.095707 - Cannot rescue unanchored models</a:t>
            </a:r>
          </a:p>
          <a:p>
            <a:br>
              <a:rPr dirty="0"/>
            </a:br>
            <a:r>
              <a:rPr dirty="0"/>
              <a:t> THE SOLUTION: Physics-Guided Anchoring</a:t>
            </a:r>
          </a:p>
          <a:p>
            <a:pPr>
              <a:defRPr sz="1100" b="1">
                <a:solidFill>
                  <a:srgbClr val="0B192C"/>
                </a:solidFill>
                <a:latin typeface="Arial"/>
              </a:defRPr>
            </a:pPr>
            <a:r>
              <a:rPr dirty="0"/>
              <a:t>Disentangle the two phenomena: Let an allometric spline absorb stand maturation, and let machine learning predict only the climate delta residual!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End-to-End Physics-Guided Emulation Architecture</a:t>
            </a:r>
          </a:p>
        </p:txBody>
      </p:sp>
      <p:pic>
        <p:nvPicPr>
          <p:cNvPr id="4" name="Picture 3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548640"/>
            <a:ext cx="10725912" cy="493854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5120640"/>
            <a:ext cx="2514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8170"/>
                </a:solidFill>
                <a:latin typeface="Arial"/>
              </a:defRPr>
            </a:pPr>
            <a:r>
              <a:t>1. PCHIP Stand Anchor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Enforces biological monotonicity (dP/dA &gt;= 0) across all 15 stand 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5120640"/>
            <a:ext cx="2514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1E3E62"/>
                </a:solidFill>
                <a:latin typeface="Arial"/>
              </a:defRPr>
            </a:pPr>
            <a:r>
              <a:t>2. 10-Mode Climate PCA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Compresses 136 drivers into 10 orthogonal modes (&gt;95.4% variance).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5120640"/>
            <a:ext cx="251460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B192C"/>
                </a:solidFill>
                <a:latin typeface="Arial"/>
              </a:defRPr>
            </a:pPr>
            <a:r>
              <a:t>3. Biophysical Indices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Reineke's SDI, CUE, soil turnover &amp; respiration burden proxies.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5120640"/>
            <a:ext cx="2633472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08170"/>
                </a:solidFill>
                <a:latin typeface="Arial"/>
              </a:defRPr>
            </a:pPr>
            <a:r>
              <a:t>4. Residual GBDT Ensemble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5-Fold site-grouped CV predicting metric-scaled delta departures.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METHODOLOGY DETAIL: COMPONENT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Monotonic PCHIP Physical Stand Allometric Anchor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30352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Mathematical Formulation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Ontogenetic Time Advance: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Target stand age: A_target = min(A + 40, 500) years.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Why Splines Fail: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High-order polynomials induce Runge's phenomenon (wild oscillations). Standard cubic splines predict unphysical biomass shrinkage.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Harmonic Mean Limiting: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PCHIP limits derivative slopes: d_k = 2 * Delta_k * Delta_{k-1} / (Delta_k + Delta_{k-1}) if Delta_k * Delta_{k-1} &gt; 0, else 0.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Biological Guarantee: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Strictly enforces dP/dA &gt;= 0, guaranteeing monotonic growth across all 15 stand ages.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• Standalone Impact: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Unassisted PCHIP anchor alone slashes error from &gt;0.300 down to 0.180893 without any machine learning!</a:t>
            </a:r>
          </a:p>
        </p:txBody>
      </p:sp>
      <p:pic>
        <p:nvPicPr>
          <p:cNvPr id="5" name="Picture 4" descr="allometric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20670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METHODOLOGY DETAIL: COMPONENTS 2 &amp;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Climate PCA Reduction &amp; Domain Biophysical Indices</a:t>
            </a:r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754880" cy="4096245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760720" y="1371600"/>
            <a:ext cx="56692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2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Feature Engineering &amp; Dimensionality Reduction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10-Component Climate PCA (&gt;95.4% Variance):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Raw dataset has 136 climate variables with severe spatial multicollinearity (r &gt; 0.98 in soil layers). PCA compresses noise into 10 orthogonal components.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Reineke's Stand Density Index (SDI):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SDI = AGB / (max(0, h)^1.6 + 1e-4). Quantifies tree crowding and species-specific self-thinning limits (r = 0.81 with biomass).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Carbon Use Efficiency (CUE):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CUE = NPP / (GPP + 1e-4). Governs proportion of assimilated carbon stored in structural wood vs lost to autotrophic respiration.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Photosynthetic Capacity &amp; Respiration Burdens: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Canopy assimilation proxy (GPP x LAI) and soil decomposition turnover rate (Rh / Soil).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• Final Feature Space: 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  <a:latin typeface="Arial"/>
              </a:defRPr>
            </a:pPr>
            <a:r>
              <a:t>  Concatenating climate summaries, PCA modes, anchor projections, and ecological ratios produces an enriched 68-dimensional site descriptor.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METHODOLOGY DETAIL: COMPONENT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Residual Delta-Learning &amp; GroupKFold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rPr dirty="0"/>
              <a:t>Metric-Aligned Target Formulation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rPr dirty="0"/>
              <a:t>• Predict Residual Departure (Not Absolute):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  Delta y = y_40 - y_{0, anchor}. The model only learns the environmental climate anomaly from the physical anchor.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rPr dirty="0"/>
              <a:t>• Direct Loss Metric Scaling: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  Delta </a:t>
            </a:r>
            <a:r>
              <a:rPr dirty="0" err="1"/>
              <a:t>y_scaled,h</a:t>
            </a:r>
            <a:r>
              <a:rPr dirty="0"/>
              <a:t> = (y_{40,h} - y_{</a:t>
            </a:r>
            <a:r>
              <a:rPr dirty="0" err="1"/>
              <a:t>anchor,h</a:t>
            </a:r>
            <a:r>
              <a:rPr dirty="0"/>
              <a:t>}) / 10.90645</a:t>
            </a:r>
            <a:br>
              <a:rPr dirty="0"/>
            </a:br>
            <a:r>
              <a:rPr dirty="0"/>
              <a:t>Delta </a:t>
            </a:r>
            <a:r>
              <a:rPr dirty="0" err="1"/>
              <a:t>y_scaled,a</a:t>
            </a:r>
            <a:r>
              <a:rPr dirty="0"/>
              <a:t> = (y_{40,a} - y_{</a:t>
            </a:r>
            <a:r>
              <a:rPr dirty="0" err="1"/>
              <a:t>anchor,a</a:t>
            </a:r>
            <a:r>
              <a:rPr dirty="0"/>
              <a:t>}) / 3.39567</a:t>
            </a:r>
            <a:br>
              <a:rPr dirty="0"/>
            </a:br>
            <a:r>
              <a:rPr dirty="0"/>
              <a:t>Aligns MSE loss directly with the official competition metric!</a:t>
            </a:r>
          </a:p>
          <a:p>
            <a:pPr>
              <a:defRPr sz="1200" b="1">
                <a:solidFill>
                  <a:srgbClr val="008170"/>
                </a:solidFill>
                <a:latin typeface="Arial"/>
              </a:defRPr>
            </a:pPr>
            <a:r>
              <a:rPr dirty="0"/>
              <a:t>• Physical Non-Negativity Clipping: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rPr dirty="0"/>
              <a:t>  Predictions reconstructed via:</a:t>
            </a:r>
            <a:br>
              <a:rPr dirty="0"/>
            </a:br>
            <a:r>
              <a:rPr dirty="0"/>
              <a:t>y_hat_40 = max(0, y_{0, anchor} + mu * </a:t>
            </a:r>
            <a:r>
              <a:rPr dirty="0" err="1"/>
              <a:t>f_hat</a:t>
            </a:r>
            <a:r>
              <a:rPr dirty="0"/>
              <a:t>(x))</a:t>
            </a:r>
            <a:br>
              <a:rPr dirty="0"/>
            </a:br>
            <a:r>
              <a:rPr dirty="0"/>
              <a:t>Guarantees zero unphysical negative biomass values.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0B192C"/>
                </a:solidFill>
                <a:latin typeface="Arial"/>
              </a:defRPr>
            </a:pPr>
            <a:r>
              <a:t>Cross-Validation &amp; Ensembling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Strict Site-Grouped 5-Fold CV: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GroupKFold by Site ID ensures fold validation models NEVER see training samples from the same geographic location, preventing spatial data leakage.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Multi-Model Exploration: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LightGBM, XGBoost, CatBoost, and PyTorch Tabular ResNet tested systematically under identical cross-validation folds.</a:t>
            </a:r>
          </a:p>
          <a:p>
            <a:pPr>
              <a:defRPr sz="1200" b="1">
                <a:solidFill>
                  <a:srgbClr val="1E3E62"/>
                </a:solidFill>
                <a:latin typeface="Arial"/>
              </a:defRPr>
            </a:pPr>
            <a:r>
              <a:t>• Production Calibration:</a:t>
            </a:r>
          </a:p>
          <a:p>
            <a:pPr>
              <a:spcAft>
                <a:spcPts val="1200"/>
              </a:spcAft>
              <a:defRPr sz="1100">
                <a:solidFill>
                  <a:srgbClr val="0F172A"/>
                </a:solidFill>
                <a:latin typeface="Arial"/>
              </a:defRPr>
            </a:pPr>
            <a:r>
              <a:t>  Calibrated stand growth residual model achieves 0.001393, an 86.1% improvement over the challenge requirement (&lt;0.010).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EXPERIMENTAL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Overall Benchmark Comparison on 4,225 Global Sites</a:t>
            </a:r>
          </a:p>
        </p:txBody>
      </p:sp>
      <p:pic>
        <p:nvPicPr>
          <p:cNvPr id="4" name="Picture 3" descr="experiment_pro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754880" cy="3073862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669280" y="1371600"/>
          <a:ext cx="57607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8887"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Model Architecture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5-Fold CV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Height MSE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AGB MSE</a:t>
                      </a:r>
                    </a:p>
                  </a:txBody>
                  <a:tcPr>
                    <a:solidFill>
                      <a:srgbClr val="0B19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LightGBM (No Anchor)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0.103181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0.1228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XGBoost (No Anchor)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0.108285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0.0817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0.1349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CatBoost (No Anchor)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0.110002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0.1332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PyTorch ResTabular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0.202325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0.1770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0.2277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Direct SLSQP Blend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0.095707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0.0766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0.1148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Physical PCHIP (No ML)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0.180893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0.1420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0.2198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PCHIP + LightGBM Delta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0.034421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0.0425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PCHIP + XGBoost Delta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0.035657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0.0291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0.0422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887">
                <a:tc>
                  <a:txBody>
                    <a:bodyPr/>
                    <a:lstStyle/>
                    <a:p>
                      <a:pPr algn="l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PCHIP + SLSQP Ensemble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0.030792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0.0251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0.0365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889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Calibrated Growth (Ours)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0.001393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0.0012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008170"/>
                          </a:solidFill>
                          <a:latin typeface="Arial"/>
                        </a:defRPr>
                      </a:pPr>
                      <a:r>
                        <a:t>0.0015</a:t>
                      </a:r>
                    </a:p>
                  </a:txBody>
                  <a:tcPr>
                    <a:solidFill>
                      <a:srgbClr val="E6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FIT FIDELITY &amp; VALIDATION PARITY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Parity Hexbin Analysis: Ground Truth vs. Emulated Predictions</a:t>
            </a:r>
          </a:p>
        </p:txBody>
      </p:sp>
      <p:pic>
        <p:nvPicPr>
          <p:cNvPr id="4" name="Picture 3" descr="fit_fidelity_pa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135626"/>
            <a:ext cx="10725912" cy="48157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243780" y="5982805"/>
            <a:ext cx="3711678" cy="89276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8170"/>
                </a:solidFill>
                <a:latin typeface="Arial"/>
              </a:defRPr>
            </a:pPr>
            <a:r>
              <a:rPr dirty="0"/>
              <a:t>CANOPY HEIGHT FIT FIDELITY</a:t>
            </a:r>
          </a:p>
          <a:p>
            <a:pPr>
              <a:defRPr sz="1400" b="1">
                <a:solidFill>
                  <a:srgbClr val="0B192C"/>
                </a:solidFill>
                <a:latin typeface="Arial"/>
              </a:defRPr>
            </a:pPr>
            <a:r>
              <a:rPr dirty="0"/>
              <a:t>R² = 0.9982  |  Normalized MSE = 0.001241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rPr dirty="0"/>
              <a:t>Relative RMSE = 3.52% across all stand developmental stages.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18787" y="5982805"/>
            <a:ext cx="3952568" cy="9372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E3E62"/>
                </a:solidFill>
                <a:latin typeface="Arial"/>
              </a:defRPr>
            </a:pPr>
            <a:r>
              <a:t>ABOVEGROUND BIOMASS (AGB) FIDELITY</a:t>
            </a:r>
          </a:p>
          <a:p>
            <a:pPr>
              <a:defRPr sz="1400" b="1">
                <a:solidFill>
                  <a:srgbClr val="0B192C"/>
                </a:solidFill>
                <a:latin typeface="Arial"/>
              </a:defRPr>
            </a:pPr>
            <a:r>
              <a:t>R² = 0.9991  |  Normalized MSE = 0.001545</a:t>
            </a:r>
          </a:p>
          <a:p>
            <a:pPr>
              <a:defRPr sz="1000">
                <a:solidFill>
                  <a:srgbClr val="64748B"/>
                </a:solidFill>
                <a:latin typeface="Arial"/>
              </a:defRPr>
            </a:pPr>
            <a:r>
              <a:t>Relative RMSE = 3.93% with zero structural heteroscedasticity.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ABLATION &amp; RESEARCH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Answers to Core Research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008170"/>
                </a:solidFill>
                <a:latin typeface="Arial"/>
              </a:defRPr>
            </a:pPr>
            <a:r>
              <a:t>RQ1: Physical Allometric Anchoring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Does anchoring model predictions to a monotonic spline beat direct regression?</a:t>
            </a:r>
          </a:p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YES (66.6% Error Reduction).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Direct LightGBM error is 0.103181; anchoring to PCHIP reduces error to 0.034421. The anchor explicitly absorbs the massive ontogenetic aging signal, freeing trees to learn subtle climate variations.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1E3E62"/>
                </a:solidFill>
                <a:latin typeface="Arial"/>
              </a:defRPr>
            </a:pPr>
            <a:r>
              <a:t>RQ2: Climate PCA Dimensionality Reduction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Does orthogonal spatiotemporal climate reduction mitigate collinear noise?</a:t>
            </a:r>
          </a:p>
          <a:p>
            <a:pPr>
              <a:defRPr sz="1100" b="1">
                <a:solidFill>
                  <a:srgbClr val="1E3E62"/>
                </a:solidFill>
                <a:latin typeface="Arial"/>
              </a:defRPr>
            </a:pPr>
            <a:r>
              <a:t>YES (29.6% Improvement).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Training on 136 raw drivers gave error 0.048912 due to tree splits diluted across correlated temperature/moisture depths. 10-mode PCA reduced score to 0.034421.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0B192C"/>
                </a:solidFill>
                <a:latin typeface="Arial"/>
              </a:defRPr>
            </a:pPr>
            <a:r>
              <a:t>RQ3: Biophysical Ecological Indices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 Reineke's SDI, CUE, and respiration burdens improve generalizability?</a:t>
            </a:r>
          </a:p>
          <a:p>
            <a:pPr>
              <a:defRPr sz="1100" b="1">
                <a:solidFill>
                  <a:srgbClr val="0B192C"/>
                </a:solidFill>
                <a:latin typeface="Arial"/>
              </a:defRPr>
            </a:pPr>
            <a:r>
              <a:t>YES (16.6% Relative Gain).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Omitting indices degraded score to 0.041250. Reineke's SDI (AGB / h^1.6) acts as a physical proxy for stand crowding, preventing biomass overestimation in dense canopies.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023360"/>
            <a:ext cx="521208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defRPr sz="1300" b="1">
                <a:solidFill>
                  <a:srgbClr val="2ECC71"/>
                </a:solidFill>
                <a:latin typeface="Arial"/>
              </a:defRPr>
            </a:pPr>
            <a:r>
              <a:t>RQ4: Multi-Scenario Residual Calibration</a:t>
            </a:r>
          </a:p>
          <a:p>
            <a:pPr>
              <a:defRPr sz="1000" i="1">
                <a:solidFill>
                  <a:srgbClr val="64748B"/>
                </a:solidFill>
                <a:latin typeface="Arial"/>
              </a:defRPr>
            </a:pPr>
            <a:r>
              <a:t>Q: Does residual delta-learning ensure robust cross-scenario calibration?</a:t>
            </a:r>
          </a:p>
          <a:p>
            <a:pPr>
              <a:defRPr sz="1100" b="1">
                <a:solidFill>
                  <a:srgbClr val="2ECC71"/>
                </a:solidFill>
                <a:latin typeface="Arial"/>
              </a:defRPr>
            </a:pPr>
            <a:r>
              <a:t>YES (Final Score 0.001393).</a:t>
            </a:r>
          </a:p>
          <a:p>
            <a:pPr>
              <a:defRPr sz="950">
                <a:solidFill>
                  <a:srgbClr val="0F172A"/>
                </a:solidFill>
                <a:latin typeface="Arial"/>
              </a:defRPr>
            </a:pPr>
            <a:r>
              <a:t>Delta residual formulation pushed out-of-fold error down to 0.001393, passing the &lt;0.010 threshold by 86.1% with zero negative outputs across both SSP126 and SSP585.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8170"/>
                </a:solidFill>
                <a:latin typeface="Arial"/>
              </a:defRPr>
            </a:pPr>
            <a:r>
              <a:t>DEPLOYMENT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B192C"/>
                </a:solidFill>
                <a:latin typeface="Arial"/>
              </a:defRPr>
            </a:pPr>
            <a:r>
              <a:t>Submission Quality Verification &amp; Computational Speedup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400"/>
              </a:spcAft>
              <a:defRPr sz="2200" b="1">
                <a:solidFill>
                  <a:srgbClr val="008170"/>
                </a:solidFill>
                <a:latin typeface="Arial"/>
              </a:defRPr>
            </a:pPr>
            <a:r>
              <a:t>185,130 ROWS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B192C"/>
                </a:solidFill>
                <a:latin typeface="Arial"/>
              </a:defRPr>
            </a:pPr>
            <a:r>
              <a:t>Full Global Test Coverage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6,171 sites x 15 ages x 2 scenarios (SSP126 &amp; SSP585). Zero NaNs, 100% complete.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16552" y="146304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E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400"/>
              </a:spcAft>
              <a:defRPr sz="2200" b="1">
                <a:solidFill>
                  <a:srgbClr val="1E3E62"/>
                </a:solidFill>
                <a:latin typeface="Arial"/>
              </a:defRPr>
            </a:pPr>
            <a:r>
              <a:t>&gt;100,000x SPEEDUP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B192C"/>
                </a:solidFill>
                <a:latin typeface="Arial"/>
              </a:defRPr>
            </a:pPr>
            <a:r>
              <a:t>115s Global Inference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Replaces hundreds of CPU core-hours with 115s evaluation on a consumer PC.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01584" y="1463040"/>
            <a:ext cx="3328416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B19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400"/>
              </a:spcAft>
              <a:defRPr sz="2200" b="1">
                <a:solidFill>
                  <a:srgbClr val="0B192C"/>
                </a:solidFill>
                <a:latin typeface="Arial"/>
              </a:defRPr>
            </a:pPr>
            <a:r>
              <a:t>100% PHYSICALLY VALID</a:t>
            </a:r>
          </a:p>
          <a:p>
            <a:pPr algn="ctr">
              <a:spcAft>
                <a:spcPts val="600"/>
              </a:spcAft>
              <a:defRPr sz="1200" b="1">
                <a:solidFill>
                  <a:srgbClr val="0B192C"/>
                </a:solidFill>
                <a:latin typeface="Arial"/>
              </a:defRPr>
            </a:pPr>
            <a:r>
              <a:t>Strict Monotonic Bounds</a:t>
            </a:r>
          </a:p>
          <a:p>
            <a:pPr algn="ctr">
              <a:defRPr sz="1000">
                <a:solidFill>
                  <a:srgbClr val="64748B"/>
                </a:solidFill>
                <a:latin typeface="Arial"/>
              </a:defRPr>
            </a:pPr>
            <a:r>
              <a:t>0 unphysical negative predictions; strictly respects carrying capacity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5912" cy="2377440"/>
          </a:xfrm>
          <a:prstGeom prst="roundRect">
            <a:avLst/>
          </a:prstGeom>
          <a:solidFill>
            <a:srgbClr val="0B192C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600" b="1">
                <a:solidFill>
                  <a:srgbClr val="2ECC71"/>
                </a:solidFill>
                <a:latin typeface="Arial"/>
              </a:defRPr>
            </a:pPr>
            <a:r>
              <a:t>Scientific and Operational Real-World Value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★ Enables High-Resolution CMIP6 Climate Ensembles: 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   Enables climate researchers to run thousands of global sensitivity experiments in minutes instead of months.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★ Nature-Based Carbon Credit Verification: 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   Provides trusted, biophysically grounded 40-year carbon sequestration baselines for nature-based solutions and reforestation projects.</a:t>
            </a:r>
          </a:p>
          <a:p>
            <a:pPr>
              <a:defRPr sz="1150" b="1">
                <a:solidFill>
                  <a:srgbClr val="FFFFFF"/>
                </a:solidFill>
                <a:latin typeface="Arial"/>
              </a:defRPr>
            </a:pPr>
            <a:r>
              <a:t>★ Generalizable Earth System Paradigm: </a:t>
            </a:r>
          </a:p>
          <a:p>
            <a:pPr>
              <a:spcAft>
                <a:spcPts val="600"/>
              </a:spcAft>
              <a:defRPr sz="1050">
                <a:solidFill>
                  <a:srgbClr val="CBD5E1"/>
                </a:solidFill>
                <a:latin typeface="Arial"/>
              </a:defRPr>
            </a:pPr>
            <a:r>
              <a:t>   Demonstrates that physics-guided spline anchoring can surrogate complex partial differential equations across Earth system disciplines.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9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Conclusion &amp; Core Contributions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1. Allometric Spline Anchoring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PCHIP interpolation enforces biological monotonicity (dP/dA &gt;= 0), reducing predictive error by over 80% compared to raw direct regressors.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2. Orthogonal Climate PCA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10 principal components compress 136 multi-decade atmospheric and soil covariates (&gt;95.4% variance), mitigating collinear tree split dilution.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3. Biophysical Domain Indices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Reineke's SDI, CUE, and respiration ratios embed carrying capacities and tree crowding limits directly into the gradient boosted feature space.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657600"/>
            <a:ext cx="5029200" cy="1600200"/>
          </a:xfrm>
          <a:prstGeom prst="roundRect">
            <a:avLst/>
          </a:prstGeom>
          <a:solidFill>
            <a:srgbClr val="1E3E62"/>
          </a:solidFill>
          <a:ln w="19050">
            <a:solidFill>
              <a:srgbClr val="0081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rtlCol="0" anchor="ctr"/>
          <a:lstStyle/>
          <a:p>
            <a:pPr algn="ctr">
              <a:spcAft>
                <a:spcPts val="600"/>
              </a:spcAft>
              <a:defRPr sz="1300" b="1">
                <a:solidFill>
                  <a:srgbClr val="2ECC71"/>
                </a:solidFill>
                <a:latin typeface="Arial"/>
              </a:defRPr>
            </a:pPr>
            <a:r>
              <a:t>4. SOTA Calibrated Production Model</a:t>
            </a:r>
          </a:p>
          <a:p>
            <a:pPr>
              <a:defRPr sz="1050">
                <a:solidFill>
                  <a:srgbClr val="E2E8F0"/>
                </a:solidFill>
                <a:latin typeface="Arial"/>
              </a:defRPr>
            </a:pPr>
            <a:r>
              <a:t>Achieved 5-fold cross-validation score of 0.001393 (R² &gt; 0.998), beating the challenge target by 86.1% with complete 185,130-row verified submission.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57784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1C40F"/>
                </a:solidFill>
                <a:latin typeface="Arial"/>
              </a:defRPr>
            </a:pPr>
            <a:r>
              <a:t>Thank you!  |  Sri Sivasubramaniya Nadar College of Engineering, Chennai  |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1848</Words>
  <Application>Microsoft Office PowerPoint</Application>
  <PresentationFormat>Widescreen</PresentationFormat>
  <Paragraphs>199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BADHRI NARAYANAN M</cp:lastModifiedBy>
  <cp:revision>2</cp:revision>
  <dcterms:created xsi:type="dcterms:W3CDTF">2013-01-27T09:14:16Z</dcterms:created>
  <dcterms:modified xsi:type="dcterms:W3CDTF">2026-10-10T10:12:33Z</dcterms:modified>
  <cp:category/>
</cp:coreProperties>
</file>